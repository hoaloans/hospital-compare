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C8102E"/>
                </a:solidFill>
                <a:latin typeface="Calibri"/>
              </a:rPr>
              <a:t>PARTNERSHIP CONCEPT  · 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4884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6000" b="1" i="0">
                <a:solidFill>
                  <a:srgbClr val="2B2B2B"/>
                </a:solidFill>
                <a:latin typeface="Calibri"/>
              </a:rPr>
              <a:t>Parigrado × AARP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2600" b="0" i="0">
                <a:solidFill>
                  <a:srgbClr val="60666E"/>
                </a:solidFill>
                <a:latin typeface="Calibri"/>
              </a:rPr>
              <a:t>Unbiased hospital quality for the 50+ community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932688" y="4160520"/>
            <a:ext cx="1005840" cy="6400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389120"/>
            <a:ext cx="9875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60666E"/>
                </a:solidFill>
                <a:latin typeface="Calibri"/>
              </a:rPr>
              <a:t>Turning the government's own CMS and CDC data into clear, side-by-side hospital comparisons — no advertising, no sponsorships, no pay-to-rank lists.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309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1">
                <a:solidFill>
                  <a:srgbClr val="60666E"/>
                </a:solidFill>
                <a:latin typeface="Calibri"/>
              </a:rPr>
              <a:t>Not an official AARP product  ·  parigrado.com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C8102E"/>
                </a:solidFill>
                <a:latin typeface="Calibr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2B2B2B"/>
                </a:solidFill>
                <a:latin typeface="Calibri"/>
              </a:rPr>
              <a:t>Choosing a hospital is high-stakes — and confusing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572768"/>
            <a:ext cx="777240" cy="5486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5852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1800" b="1">
                <a:solidFill>
                  <a:srgbClr val="C8102E"/>
                </a:solidFill>
                <a:latin typeface="Calibri"/>
              </a:rPr>
              <a:t>•  </a:t>
            </a:r>
            <a:r>
              <a:rPr sz="1800" b="1">
                <a:solidFill>
                  <a:srgbClr val="2B2B2B"/>
                </a:solidFill>
                <a:latin typeface="Calibri"/>
              </a:rPr>
              <a:t>Consequential. </a:t>
            </a:r>
            <a:r>
              <a:rPr sz="1800">
                <a:solidFill>
                  <a:srgbClr val="60666E"/>
                </a:solidFill>
                <a:latin typeface="Calibri"/>
              </a:rPr>
              <a:t>Where you get care is one of the most important health decisions a 50+ patient makes.</a:t>
            </a:r>
          </a:p>
          <a:p>
            <a:pPr algn="l">
              <a:spcAft>
                <a:spcPts val="1600"/>
              </a:spcAft>
            </a:pPr>
            <a:r>
              <a:rPr sz="1800" b="1">
                <a:solidFill>
                  <a:srgbClr val="C8102E"/>
                </a:solidFill>
                <a:latin typeface="Calibri"/>
              </a:rPr>
              <a:t>•  </a:t>
            </a:r>
            <a:r>
              <a:rPr sz="1800" b="1">
                <a:solidFill>
                  <a:srgbClr val="2B2B2B"/>
                </a:solidFill>
                <a:latin typeface="Calibri"/>
              </a:rPr>
              <a:t>Opaque. </a:t>
            </a:r>
            <a:r>
              <a:rPr sz="1800">
                <a:solidFill>
                  <a:srgbClr val="60666E"/>
                </a:solidFill>
                <a:latin typeface="Calibri"/>
              </a:rPr>
              <a:t>Quality varies widely between hospitals, but the differences are hard to see.</a:t>
            </a:r>
          </a:p>
          <a:p>
            <a:pPr algn="l">
              <a:spcAft>
                <a:spcPts val="1600"/>
              </a:spcAft>
            </a:pPr>
            <a:r>
              <a:rPr sz="1800" b="1">
                <a:solidFill>
                  <a:srgbClr val="C8102E"/>
                </a:solidFill>
                <a:latin typeface="Calibri"/>
              </a:rPr>
              <a:t>•  </a:t>
            </a:r>
            <a:r>
              <a:rPr sz="1800" b="1">
                <a:solidFill>
                  <a:srgbClr val="2B2B2B"/>
                </a:solidFill>
                <a:latin typeface="Calibri"/>
              </a:rPr>
              <a:t>Ad-driven rankings. </a:t>
            </a:r>
            <a:r>
              <a:rPr sz="1800">
                <a:solidFill>
                  <a:srgbClr val="60666E"/>
                </a:solidFill>
                <a:latin typeface="Calibri"/>
              </a:rPr>
              <a:t>Many “best hospital” lists are shaped by marketing, sponsorships, and pay-to-rank influence.</a:t>
            </a:r>
          </a:p>
          <a:p>
            <a:pPr algn="l">
              <a:spcAft>
                <a:spcPts val="1600"/>
              </a:spcAft>
            </a:pPr>
            <a:r>
              <a:rPr sz="1800" b="1">
                <a:solidFill>
                  <a:srgbClr val="C8102E"/>
                </a:solidFill>
                <a:latin typeface="Calibri"/>
              </a:rPr>
              <a:t>•  </a:t>
            </a:r>
            <a:r>
              <a:rPr sz="1800" b="1">
                <a:solidFill>
                  <a:srgbClr val="2B2B2B"/>
                </a:solidFill>
                <a:latin typeface="Calibri"/>
              </a:rPr>
              <a:t>Hard to compare. </a:t>
            </a:r>
            <a:r>
              <a:rPr sz="1800">
                <a:solidFill>
                  <a:srgbClr val="60666E"/>
                </a:solidFill>
                <a:latin typeface="Calibri"/>
              </a:rPr>
              <a:t>Federal data exists, but it isn't presented in plain language for the people who need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40880" y="2011680"/>
            <a:ext cx="4297680" cy="36576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60920" y="2331720"/>
            <a:ext cx="36576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600" b="1" i="0">
                <a:solidFill>
                  <a:srgbClr val="C8102E"/>
                </a:solidFill>
                <a:latin typeface="Calibri"/>
              </a:rPr>
              <a:t>100M+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1500" b="0" i="0">
                <a:solidFill>
                  <a:srgbClr val="60666E"/>
                </a:solidFill>
                <a:latin typeface="Calibri"/>
              </a:rPr>
              <a:t>U.S. adults age 50+ facing these decisions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600" b="1" i="0">
                <a:solidFill>
                  <a:srgbClr val="2B2B2B"/>
                </a:solidFill>
                <a:latin typeface="Calibri"/>
              </a:rPr>
              <a:t>$0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60666E"/>
                </a:solidFill>
                <a:latin typeface="Calibri"/>
              </a:rPr>
              <a:t>Members should never pay to see unbiased quality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41908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50" b="0" i="1">
                <a:solidFill>
                  <a:srgbClr val="60666E"/>
                </a:solidFill>
                <a:latin typeface="Calibri"/>
              </a:rPr>
              <a:t>Partnership concept — not an official AARP product.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C8102E"/>
                </a:solidFill>
                <a:latin typeface="Calibri"/>
              </a:rP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2B2B2B"/>
                </a:solidFill>
                <a:latin typeface="Calibri"/>
              </a:rPr>
              <a:t>Parigrado: facts, not marketing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572768"/>
            <a:ext cx="777240" cy="5486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424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60666E"/>
                </a:solidFill>
                <a:latin typeface="Calibri"/>
              </a:rPr>
              <a:t>Search any Medicare-certified hospital and instantly see how it compares to its county, state, and national peers on the measures that matter to patients.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834640"/>
            <a:ext cx="104241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1800" b="1">
                <a:solidFill>
                  <a:srgbClr val="C8102E"/>
                </a:solidFill>
                <a:latin typeface="Calibri"/>
              </a:rPr>
              <a:t>•  </a:t>
            </a:r>
            <a:r>
              <a:rPr sz="1800" b="1">
                <a:solidFill>
                  <a:srgbClr val="2B2B2B"/>
                </a:solidFill>
                <a:latin typeface="Calibri"/>
              </a:rPr>
              <a:t>Built on public federal data. </a:t>
            </a:r>
            <a:r>
              <a:rPr sz="1800">
                <a:solidFill>
                  <a:srgbClr val="60666E"/>
                </a:solidFill>
                <a:latin typeface="Calibri"/>
              </a:rPr>
              <a:t>Every score comes from CMS and CDC — presented as-is.</a:t>
            </a:r>
          </a:p>
          <a:p>
            <a:pPr algn="l">
              <a:spcAft>
                <a:spcPts val="1600"/>
              </a:spcAft>
            </a:pPr>
            <a:r>
              <a:rPr sz="1800" b="1">
                <a:solidFill>
                  <a:srgbClr val="C8102E"/>
                </a:solidFill>
                <a:latin typeface="Calibri"/>
              </a:rPr>
              <a:t>•  </a:t>
            </a:r>
            <a:r>
              <a:rPr sz="1800" b="1">
                <a:solidFill>
                  <a:srgbClr val="2B2B2B"/>
                </a:solidFill>
                <a:latin typeface="Calibri"/>
              </a:rPr>
              <a:t>No pay-to-rank, ever. </a:t>
            </a:r>
            <a:r>
              <a:rPr sz="1800">
                <a:solidFill>
                  <a:srgbClr val="60666E"/>
                </a:solidFill>
                <a:latin typeface="Calibri"/>
              </a:rPr>
              <a:t>Nothing is for sale; no hospital can buy a higher ranking.</a:t>
            </a:r>
          </a:p>
          <a:p>
            <a:pPr algn="l">
              <a:spcAft>
                <a:spcPts val="1600"/>
              </a:spcAft>
            </a:pPr>
            <a:r>
              <a:rPr sz="1800" b="1">
                <a:solidFill>
                  <a:srgbClr val="C8102E"/>
                </a:solidFill>
                <a:latin typeface="Calibri"/>
              </a:rPr>
              <a:t>•  </a:t>
            </a:r>
            <a:r>
              <a:rPr sz="1800" b="1">
                <a:solidFill>
                  <a:srgbClr val="2B2B2B"/>
                </a:solidFill>
                <a:latin typeface="Calibri"/>
              </a:rPr>
              <a:t>Made for a 50+ audience. </a:t>
            </a:r>
            <a:r>
              <a:rPr sz="1800">
                <a:solidFill>
                  <a:srgbClr val="60666E"/>
                </a:solidFill>
                <a:latin typeface="Calibri"/>
              </a:rPr>
              <a:t>Large-type, plain-language comparisons — not clinical jargon.</a:t>
            </a:r>
          </a:p>
          <a:p>
            <a:pPr algn="l">
              <a:spcAft>
                <a:spcPts val="1600"/>
              </a:spcAft>
            </a:pPr>
            <a:r>
              <a:rPr sz="1800" b="1">
                <a:solidFill>
                  <a:srgbClr val="C8102E"/>
                </a:solidFill>
                <a:latin typeface="Calibri"/>
              </a:rPr>
              <a:t>•  </a:t>
            </a:r>
            <a:r>
              <a:rPr sz="1800" b="1">
                <a:solidFill>
                  <a:srgbClr val="2B2B2B"/>
                </a:solidFill>
                <a:latin typeface="Calibri"/>
              </a:rPr>
              <a:t>White-label ready. </a:t>
            </a:r>
            <a:r>
              <a:rPr sz="1800">
                <a:solidFill>
                  <a:srgbClr val="60666E"/>
                </a:solidFill>
                <a:latin typeface="Calibri"/>
              </a:rPr>
              <a:t>Re-skinned in AARP chrome and embedded via a simple link or iframe.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1908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50" b="0" i="1">
                <a:solidFill>
                  <a:srgbClr val="60666E"/>
                </a:solidFill>
                <a:latin typeface="Calibri"/>
              </a:rPr>
              <a:t>Partnership concept — not an official AARP product.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C8102E"/>
                </a:solidFill>
                <a:latin typeface="Calibri"/>
              </a:rPr>
              <a:t>PRODUCT SNAPSHOT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2B2B2B"/>
                </a:solidFill>
                <a:latin typeface="Calibri"/>
              </a:rPr>
              <a:t>Everything members need, in one place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572768"/>
            <a:ext cx="777240" cy="5486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2148840"/>
            <a:ext cx="4983480" cy="178308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9728" cy="178308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404872"/>
            <a:ext cx="43434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2B2B2B"/>
                </a:solidFill>
                <a:latin typeface="Calibri"/>
              </a:rPr>
              <a:t>Peer benchmarking</a:t>
            </a:r>
          </a:p>
          <a:p>
            <a:pPr algn="l">
              <a:spcBef>
                <a:spcPts val="400"/>
              </a:spcBef>
              <a:spcAft>
                <a:spcPts val="600"/>
              </a:spcAft>
            </a:pPr>
            <a:r>
              <a:rPr sz="1500" b="0" i="0">
                <a:solidFill>
                  <a:srgbClr val="60666E"/>
                </a:solidFill>
                <a:latin typeface="Calibri"/>
              </a:rPr>
              <a:t>Compare any hospital against similar peers — county, state, national.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2148840"/>
            <a:ext cx="4983480" cy="178308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55080" y="2148840"/>
            <a:ext cx="109728" cy="178308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20840" y="2404872"/>
            <a:ext cx="43434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2B2B2B"/>
                </a:solidFill>
                <a:latin typeface="Calibri"/>
              </a:rPr>
              <a:t>Historical trends</a:t>
            </a:r>
          </a:p>
          <a:p>
            <a:pPr algn="l">
              <a:spcBef>
                <a:spcPts val="400"/>
              </a:spcBef>
              <a:spcAft>
                <a:spcPts val="600"/>
              </a:spcAft>
            </a:pPr>
            <a:r>
              <a:rPr sz="1500" b="0" i="0">
                <a:solidFill>
                  <a:srgbClr val="60666E"/>
                </a:solidFill>
                <a:latin typeface="Calibri"/>
              </a:rPr>
              <a:t>Track how a hospital's performance moves over time.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160520"/>
            <a:ext cx="4983480" cy="178308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4160520"/>
            <a:ext cx="109728" cy="178308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4416552"/>
            <a:ext cx="43434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2B2B2B"/>
                </a:solidFill>
                <a:latin typeface="Calibri"/>
              </a:rPr>
              <a:t>PDF / CSV export</a:t>
            </a:r>
          </a:p>
          <a:p>
            <a:pPr algn="l">
              <a:spcBef>
                <a:spcPts val="400"/>
              </a:spcBef>
              <a:spcAft>
                <a:spcPts val="600"/>
              </a:spcAft>
            </a:pPr>
            <a:r>
              <a:rPr sz="1500" b="0" i="0">
                <a:solidFill>
                  <a:srgbClr val="60666E"/>
                </a:solidFill>
                <a:latin typeface="Calibri"/>
              </a:rPr>
              <a:t>Download a clean report in one click to keep or print.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4160520"/>
            <a:ext cx="4983480" cy="178308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5080" y="4160520"/>
            <a:ext cx="109728" cy="178308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20840" y="4416552"/>
            <a:ext cx="43434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2B2B2B"/>
                </a:solidFill>
                <a:latin typeface="Calibri"/>
              </a:rPr>
              <a:t>Shareable links</a:t>
            </a:r>
          </a:p>
          <a:p>
            <a:pPr algn="l">
              <a:spcBef>
                <a:spcPts val="400"/>
              </a:spcBef>
              <a:spcAft>
                <a:spcPts val="600"/>
              </a:spcAft>
            </a:pPr>
            <a:r>
              <a:rPr sz="1500" b="0" i="0">
                <a:solidFill>
                  <a:srgbClr val="60666E"/>
                </a:solidFill>
                <a:latin typeface="Calibri"/>
              </a:rPr>
              <a:t>Send a live comparison to family or a physician.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41908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50" b="0" i="1">
                <a:solidFill>
                  <a:srgbClr val="60666E"/>
                </a:solidFill>
                <a:latin typeface="Calibri"/>
              </a:rPr>
              <a:t>Partnership concept — not an official AARP product.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C8102E"/>
                </a:solidFill>
                <a:latin typeface="Calibri"/>
              </a:rPr>
              <a:t>MARKET &amp; TARGET CUSTOMER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2B2B2B"/>
                </a:solidFill>
                <a:latin typeface="Calibri"/>
              </a:rPr>
              <a:t>A large, aging, decision-heavy audience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572768"/>
            <a:ext cx="777240" cy="5486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3383280" cy="155448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14884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C8102E"/>
                </a:solidFill>
                <a:latin typeface="Calibri"/>
              </a:rPr>
              <a:t>100M+</a:t>
            </a:r>
          </a:p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400" b="0" i="0">
                <a:solidFill>
                  <a:srgbClr val="60666E"/>
                </a:solidFill>
                <a:latin typeface="Calibri"/>
              </a:rPr>
              <a:t>U.S. adults age 50+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965960"/>
            <a:ext cx="3383280" cy="155448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214884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C8102E"/>
                </a:solidFill>
                <a:latin typeface="Calibri"/>
              </a:rPr>
              <a:t>~38M</a:t>
            </a:r>
          </a:p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400" b="0" i="0">
                <a:solidFill>
                  <a:srgbClr val="60666E"/>
                </a:solidFill>
                <a:latin typeface="Calibri"/>
              </a:rPr>
              <a:t>AARP members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965960"/>
            <a:ext cx="3383280" cy="155448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80" y="214884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C8102E"/>
                </a:solidFill>
                <a:latin typeface="Calibri"/>
              </a:rPr>
              <a:t>Growing</a:t>
            </a:r>
          </a:p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400" b="0" i="0">
                <a:solidFill>
                  <a:srgbClr val="60666E"/>
                </a:solidFill>
                <a:latin typeface="Calibri"/>
              </a:rPr>
              <a:t>Aging population + AgeTech demand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886200"/>
            <a:ext cx="104241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300"/>
              </a:spcAft>
            </a:pPr>
            <a:r>
              <a:rPr sz="1700" b="1">
                <a:solidFill>
                  <a:srgbClr val="C8102E"/>
                </a:solidFill>
                <a:latin typeface="Calibri"/>
              </a:rPr>
              <a:t>•  </a:t>
            </a:r>
            <a:r>
              <a:rPr sz="1700" b="1">
                <a:solidFill>
                  <a:srgbClr val="2B2B2B"/>
                </a:solidFill>
                <a:latin typeface="Calibri"/>
              </a:rPr>
              <a:t>Primary customer. </a:t>
            </a:r>
            <a:r>
              <a:rPr sz="1700">
                <a:solidFill>
                  <a:srgbClr val="60666E"/>
                </a:solidFill>
                <a:latin typeface="Calibri"/>
              </a:rPr>
              <a:t>AARP and other trusted white-label / membership partners who serve the 50+ community.</a:t>
            </a:r>
          </a:p>
          <a:p>
            <a:pPr algn="l">
              <a:spcAft>
                <a:spcPts val="1300"/>
              </a:spcAft>
            </a:pPr>
            <a:r>
              <a:rPr sz="1700" b="1">
                <a:solidFill>
                  <a:srgbClr val="C8102E"/>
                </a:solidFill>
                <a:latin typeface="Calibri"/>
              </a:rPr>
              <a:t>•  </a:t>
            </a:r>
            <a:r>
              <a:rPr sz="1700" b="1">
                <a:solidFill>
                  <a:srgbClr val="2B2B2B"/>
                </a:solidFill>
                <a:latin typeface="Calibri"/>
              </a:rPr>
              <a:t>End users. </a:t>
            </a:r>
            <a:r>
              <a:rPr sz="1700">
                <a:solidFill>
                  <a:srgbClr val="60666E"/>
                </a:solidFill>
                <a:latin typeface="Calibri"/>
              </a:rPr>
              <a:t>Members age 50+ (and their families) choosing where to receive hospital care.</a:t>
            </a:r>
          </a:p>
          <a:p>
            <a:pPr algn="l">
              <a:spcAft>
                <a:spcPts val="1300"/>
              </a:spcAft>
            </a:pPr>
            <a:r>
              <a:rPr sz="1700" b="1">
                <a:solidFill>
                  <a:srgbClr val="C8102E"/>
                </a:solidFill>
                <a:latin typeface="Calibri"/>
              </a:rPr>
              <a:t>•  </a:t>
            </a:r>
            <a:r>
              <a:rPr sz="1700" b="1">
                <a:solidFill>
                  <a:srgbClr val="2B2B2B"/>
                </a:solidFill>
                <a:latin typeface="Calibri"/>
              </a:rPr>
              <a:t>Category tailwind. </a:t>
            </a:r>
            <a:r>
              <a:rPr sz="1700">
                <a:solidFill>
                  <a:srgbClr val="60666E"/>
                </a:solidFill>
                <a:latin typeface="Calibri"/>
              </a:rPr>
              <a:t>Rising interest in AgeTech and consumer healthcare-decision tools — framed directionally, not as invented TAM.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41908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50" b="0" i="1">
                <a:solidFill>
                  <a:srgbClr val="60666E"/>
                </a:solidFill>
                <a:latin typeface="Calibri"/>
              </a:rPr>
              <a:t>Partnership concept — not an official AARP product.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C8102E"/>
                </a:solidFill>
                <a:latin typeface="Calibri"/>
              </a:rPr>
              <a:t>MEMBER VALUE  ·  WHY AARP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2B2B2B"/>
                </a:solidFill>
                <a:latin typeface="Calibri"/>
              </a:rPr>
              <a:t>On-mission, on-brand, and sticky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572768"/>
            <a:ext cx="777240" cy="5486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2103120"/>
            <a:ext cx="3429000" cy="356616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3429000" cy="10972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28803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000" b="1" i="0">
                <a:solidFill>
                  <a:srgbClr val="2B2B2B"/>
                </a:solidFill>
                <a:latin typeface="Calibri"/>
              </a:rPr>
              <a:t>Mission fit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60666E"/>
                </a:solidFill>
                <a:latin typeface="Calibri"/>
              </a:rPr>
              <a:t>Gives members facts, not marketing, on one of their most consequential decisions — squarely on AARP's consumer-empowerment mission.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2103120"/>
            <a:ext cx="3429000" cy="356616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34840" y="2103120"/>
            <a:ext cx="3429000" cy="10972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2468880"/>
            <a:ext cx="28803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000" b="1" i="0">
                <a:solidFill>
                  <a:srgbClr val="2B2B2B"/>
                </a:solidFill>
                <a:latin typeface="Calibri"/>
              </a:rPr>
              <a:t>Trust, protected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60666E"/>
                </a:solidFill>
                <a:latin typeface="Calibri"/>
              </a:rPr>
              <a:t>Every score comes from CMS and CDC. Nothing is for sale, protecting AARP's brand equity around objectivity.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2103120"/>
            <a:ext cx="3429000" cy="356616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2103120"/>
            <a:ext cx="3429000" cy="10972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2468880"/>
            <a:ext cx="28803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000" b="1" i="0">
                <a:solidFill>
                  <a:srgbClr val="2B2B2B"/>
                </a:solidFill>
                <a:latin typeface="Calibri"/>
              </a:rPr>
              <a:t>Engagement + retention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60666E"/>
                </a:solidFill>
                <a:latin typeface="Calibri"/>
              </a:rPr>
              <a:t>A genuinely useful utility gives members a reason to return — measurable through sessions, comparisons, and repeat use.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41908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50" b="0" i="1">
                <a:solidFill>
                  <a:srgbClr val="60666E"/>
                </a:solidFill>
                <a:latin typeface="Calibri"/>
              </a:rPr>
              <a:t>Partnership concept — not an official AARP product.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C8102E"/>
                </a:solidFill>
                <a:latin typeface="Calibri"/>
              </a:rPr>
              <a:t>PARTNERSHIP MODEL &amp; REVENUE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2B2B2B"/>
                </a:solidFill>
                <a:latin typeface="Calibri"/>
              </a:rPr>
              <a:t>White-label embed — low lift for AARP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572768"/>
            <a:ext cx="777240" cy="5486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2057400"/>
            <a:ext cx="10515600" cy="457200"/>
          </a:xfrm>
          <a:prstGeom prst="roundRect">
            <a:avLst>
              <a:gd name="adj" fmla="val 6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12264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2112264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0" y="2112264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Fit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514600"/>
            <a:ext cx="1051560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660904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Embed / white-label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2660904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60666E"/>
                </a:solidFill>
                <a:latin typeface="Calibri"/>
              </a:rPr>
              <a:t>AARP-branded Parigrado embedded via link or iframe.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2660904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C8102E"/>
                </a:solidFill>
                <a:latin typeface="Calibri"/>
              </a:rPr>
              <a:t>Preferred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291840"/>
            <a:ext cx="10515600" cy="77724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 w="12700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438144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Licensed co-brand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3438144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60666E"/>
                </a:solidFill>
                <a:latin typeface="Calibri"/>
              </a:rPr>
              <a:t>Deeper integration: AARP nav, member SSO, co-branded reports.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3438144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C8102E"/>
                </a:solidFill>
                <a:latin typeface="Calibri"/>
              </a:rPr>
              <a:t>Phase 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069080"/>
            <a:ext cx="1051560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215384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Pilot → national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39" y="4215384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60666E"/>
                </a:solidFill>
                <a:latin typeface="Calibri"/>
              </a:rPr>
              <a:t>Prove value in 2–3 states, then scale nationally with SLAs.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4215384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C8102E"/>
                </a:solidFill>
                <a:latin typeface="Calibri"/>
              </a:rPr>
              <a:t>Recommended path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7150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0" i="1">
                <a:solidFill>
                  <a:srgbClr val="60666E"/>
                </a:solidFill>
                <a:latin typeface="Calibri"/>
              </a:rPr>
              <a:t>Revenue model: B2B — the partner licenses the tool; members always use it free. Detailed commercial terms are a pilot-first conversation.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641908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50" b="0" i="1">
                <a:solidFill>
                  <a:srgbClr val="60666E"/>
                </a:solidFill>
                <a:latin typeface="Calibri"/>
              </a:rPr>
              <a:t>Partnership concept — not an official AARP product.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C8102E"/>
                </a:solidFill>
                <a:latin typeface="Calibri"/>
              </a:rPr>
              <a:t>THE ASK  ·  90-DAY PILOT &amp; TRACTION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2B2B2B"/>
                </a:solidFill>
                <a:latin typeface="Calibri"/>
              </a:rPr>
              <a:t>A low-lift, fully-operated pilot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572768"/>
            <a:ext cx="777240" cy="5486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2011680"/>
            <a:ext cx="3429000" cy="201168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2194560"/>
            <a:ext cx="2926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50" b="1" i="0">
                <a:solidFill>
                  <a:srgbClr val="C8102E"/>
                </a:solidFill>
                <a:latin typeface="Calibri"/>
              </a:rPr>
              <a:t>Weeks 1–2 · Stand up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60666E"/>
                </a:solidFill>
                <a:latin typeface="Calibri"/>
              </a:rPr>
              <a:t>Configure the AARP white-label embed and disclaimers; align brand assets.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2011680"/>
            <a:ext cx="3429000" cy="201168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90872" y="2194560"/>
            <a:ext cx="2926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50" b="1" i="0">
                <a:solidFill>
                  <a:srgbClr val="C8102E"/>
                </a:solidFill>
                <a:latin typeface="Calibri"/>
              </a:rPr>
              <a:t>Weeks 3–8 · Soft launch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60666E"/>
                </a:solidFill>
                <a:latin typeface="Calibri"/>
              </a:rPr>
              <a:t>Introduce to members in 2–3 high-50+ states; gather feedback.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2011680"/>
            <a:ext cx="3429000" cy="201168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02752" y="2194560"/>
            <a:ext cx="2926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50" b="1" i="0">
                <a:solidFill>
                  <a:srgbClr val="C8102E"/>
                </a:solidFill>
                <a:latin typeface="Calibri"/>
              </a:rPr>
              <a:t>Weeks 9–12 · Measure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60666E"/>
                </a:solidFill>
                <a:latin typeface="Calibri"/>
              </a:rPr>
              <a:t>Review sessions, comparisons, return rate and sentiment; go / no-go readout.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343400"/>
            <a:ext cx="105156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Where we are today (honest, early-stage):</a:t>
            </a:r>
            <a:r>
              <a:rPr sz="1450" b="1">
                <a:solidFill>
                  <a:srgbClr val="C8102E"/>
                </a:solidFill>
                <a:latin typeface="Calibri"/>
              </a:rPr>
              <a:t>•  </a:t>
            </a:r>
            <a:r>
              <a:rPr sz="1450" b="1">
                <a:solidFill>
                  <a:srgbClr val="2B2B2B"/>
                </a:solidFill>
                <a:latin typeface="Calibri"/>
              </a:rPr>
              <a:t>Product is live </a:t>
            </a:r>
            <a:r>
              <a:rPr sz="1450">
                <a:solidFill>
                  <a:srgbClr val="60666E"/>
                </a:solidFill>
                <a:latin typeface="Calibri"/>
              </a:rPr>
              <a:t>at parigrado.com, running on a working CMS/CDC data pipeline.</a:t>
            </a:r>
          </a:p>
          <a:p>
            <a:pPr algn="l">
              <a:spcAft>
                <a:spcPts val="900"/>
              </a:spcAft>
            </a:pPr>
            <a:r>
              <a:rPr sz="1450" b="1">
                <a:solidFill>
                  <a:srgbClr val="C8102E"/>
                </a:solidFill>
                <a:latin typeface="Calibri"/>
              </a:rPr>
              <a:t>•  </a:t>
            </a:r>
            <a:r>
              <a:rPr sz="1450" b="1">
                <a:solidFill>
                  <a:srgbClr val="2B2B2B"/>
                </a:solidFill>
                <a:latin typeface="Calibri"/>
              </a:rPr>
              <a:t>AARP white-label demo </a:t>
            </a:r>
            <a:r>
              <a:rPr sz="1450">
                <a:solidFill>
                  <a:srgbClr val="60666E"/>
                </a:solidFill>
                <a:latin typeface="Calibri"/>
              </a:rPr>
              <a:t>is built and kept private — available on request for partner review.</a:t>
            </a:r>
          </a:p>
          <a:p>
            <a:pPr algn="l">
              <a:spcAft>
                <a:spcPts val="900"/>
              </a:spcAft>
            </a:pPr>
            <a:r>
              <a:rPr sz="1450" b="1">
                <a:solidFill>
                  <a:srgbClr val="C8102E"/>
                </a:solidFill>
                <a:latin typeface="Calibri"/>
              </a:rPr>
              <a:t>•  </a:t>
            </a:r>
            <a:r>
              <a:rPr sz="1450" b="1">
                <a:solidFill>
                  <a:srgbClr val="2B2B2B"/>
                </a:solidFill>
                <a:latin typeface="Calibri"/>
              </a:rPr>
              <a:t>Partnership-ready </a:t>
            </a:r>
            <a:r>
              <a:rPr sz="1450">
                <a:solidFill>
                  <a:srgbClr val="60666E"/>
                </a:solidFill>
                <a:latin typeface="Calibri"/>
              </a:rPr>
              <a:t>seeking a first pilot partner; no paying customers or investor raise to report yet.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41908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50" b="0" i="1">
                <a:solidFill>
                  <a:srgbClr val="60666E"/>
                </a:solidFill>
                <a:latin typeface="Calibri"/>
              </a:rPr>
              <a:t>Partnership concept — not an official AARP product.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C8102E"/>
                </a:solidFill>
                <a:latin typeface="Calibri"/>
              </a:rPr>
              <a:t>TEAM &amp; DATA TRUST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2B2B2B"/>
                </a:solidFill>
                <a:latin typeface="Calibri"/>
              </a:rPr>
              <a:t>Founder-led, built on public federal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572768"/>
            <a:ext cx="777240" cy="5486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2011680"/>
            <a:ext cx="5029200" cy="3749039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4572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2000" b="1" i="0">
                <a:solidFill>
                  <a:srgbClr val="2B2B2B"/>
                </a:solidFill>
                <a:latin typeface="Calibri"/>
              </a:rPr>
              <a:t>Team</a:t>
            </a:r>
            <a:r>
              <a:rPr sz="1450" b="1">
                <a:solidFill>
                  <a:srgbClr val="C8102E"/>
                </a:solidFill>
                <a:latin typeface="Calibri"/>
              </a:rPr>
              <a:t>•  </a:t>
            </a:r>
            <a:r>
              <a:rPr sz="1450" b="1">
                <a:solidFill>
                  <a:srgbClr val="2B2B2B"/>
                </a:solidFill>
                <a:latin typeface="Calibri"/>
              </a:rPr>
              <a:t>Founder-led. </a:t>
            </a:r>
            <a:r>
              <a:rPr sz="1450">
                <a:solidFill>
                  <a:srgbClr val="60666E"/>
                </a:solidFill>
                <a:latin typeface="Calibri"/>
              </a:rPr>
              <a:t>Led by Larry Kirschner, with a background in consumer-facing HOA and lending services (HOA Loan Services).</a:t>
            </a:r>
          </a:p>
          <a:p>
            <a:pPr algn="l">
              <a:spcAft>
                <a:spcPts val="1100"/>
              </a:spcAft>
            </a:pPr>
            <a:r>
              <a:rPr sz="1450" b="1">
                <a:solidFill>
                  <a:srgbClr val="C8102E"/>
                </a:solidFill>
                <a:latin typeface="Calibri"/>
              </a:rPr>
              <a:t>•  </a:t>
            </a:r>
            <a:r>
              <a:rPr sz="1450" b="1">
                <a:solidFill>
                  <a:srgbClr val="2B2B2B"/>
                </a:solidFill>
                <a:latin typeface="Calibri"/>
              </a:rPr>
              <a:t>Operator mindset. </a:t>
            </a:r>
            <a:r>
              <a:rPr sz="1450">
                <a:solidFill>
                  <a:srgbClr val="60666E"/>
                </a:solidFill>
                <a:latin typeface="Calibri"/>
              </a:rPr>
              <a:t>Experience building practical tools for everyday consumers, applied to healthcare decisions.</a:t>
            </a:r>
          </a:p>
          <a:p>
            <a:pPr algn="l">
              <a:spcAft>
                <a:spcPts val="1100"/>
              </a:spcAft>
            </a:pPr>
            <a:r>
              <a:rPr sz="1450" b="1">
                <a:solidFill>
                  <a:srgbClr val="C8102E"/>
                </a:solidFill>
                <a:latin typeface="Calibri"/>
              </a:rPr>
              <a:t>•  </a:t>
            </a:r>
            <a:r>
              <a:rPr sz="1450" b="1">
                <a:solidFill>
                  <a:srgbClr val="2B2B2B"/>
                </a:solidFill>
                <a:latin typeface="Calibri"/>
              </a:rPr>
              <a:t>Lean &amp; focused. </a:t>
            </a:r>
            <a:r>
              <a:rPr sz="1450">
                <a:solidFill>
                  <a:srgbClr val="60666E"/>
                </a:solidFill>
                <a:latin typeface="Calibri"/>
              </a:rPr>
              <a:t>Parigrado operates the product, data pipeline, and updates end to end.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2011680"/>
            <a:ext cx="5212080" cy="3749039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2286000"/>
            <a:ext cx="47548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2B2B2B"/>
                </a:solidFill>
                <a:latin typeface="Calibri"/>
              </a:rPr>
              <a:t>Data trust &amp; sourcing</a:t>
            </a:r>
            <a:r>
              <a:rPr sz="1450" b="1">
                <a:solidFill>
                  <a:srgbClr val="C8102E"/>
                </a:solidFill>
                <a:latin typeface="Calibri"/>
              </a:rPr>
              <a:t>•  </a:t>
            </a:r>
            <a:r>
              <a:rPr sz="1450">
                <a:solidFill>
                  <a:srgbClr val="2B2B2B"/>
                </a:solidFill>
                <a:latin typeface="Calibri"/>
              </a:rPr>
              <a:t>CMS Hospital Compare</a:t>
            </a:r>
          </a:p>
          <a:p>
            <a:pPr algn="l">
              <a:spcAft>
                <a:spcPts val="800"/>
              </a:spcAft>
            </a:pPr>
            <a:r>
              <a:rPr sz="1450" b="1">
                <a:solidFill>
                  <a:srgbClr val="C8102E"/>
                </a:solidFill>
                <a:latin typeface="Calibri"/>
              </a:rPr>
              <a:t>•  </a:t>
            </a:r>
            <a:r>
              <a:rPr sz="1450">
                <a:solidFill>
                  <a:srgbClr val="2B2B2B"/>
                </a:solidFill>
                <a:latin typeface="Calibri"/>
              </a:rPr>
              <a:t>CMS / CDC infection reporting</a:t>
            </a:r>
          </a:p>
          <a:p>
            <a:pPr algn="l">
              <a:spcAft>
                <a:spcPts val="800"/>
              </a:spcAft>
            </a:pPr>
            <a:r>
              <a:rPr sz="1450" b="1">
                <a:solidFill>
                  <a:srgbClr val="C8102E"/>
                </a:solidFill>
                <a:latin typeface="Calibri"/>
              </a:rPr>
              <a:t>•  </a:t>
            </a:r>
            <a:r>
              <a:rPr sz="1450">
                <a:solidFill>
                  <a:srgbClr val="2B2B2B"/>
                </a:solidFill>
                <a:latin typeface="Calibri"/>
              </a:rPr>
              <a:t>CMS Hospital Readmissions Reduction Program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70916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60666E"/>
                </a:solidFill>
                <a:latin typeface="Calibri"/>
              </a:rPr>
              <a:t>Public data presented as-is, for informational purposes only — not medical advice and not a sole basis for any care decision.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41908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50" b="0" i="1">
                <a:solidFill>
                  <a:srgbClr val="60666E"/>
                </a:solidFill>
                <a:latin typeface="Calibri"/>
              </a:rPr>
              <a:t>Partnership concept — not an official AARP product.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39AA6"/>
                </a:solidFill>
                <a:latin typeface="Calibri"/>
              </a:rPr>
              <a:t>SEE IT LIVE  ·  NEXT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Let's open the AARP-branded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0604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1">
                <a:solidFill>
                  <a:srgbClr val="C8102E"/>
                </a:solidFill>
                <a:latin typeface="Calibri"/>
              </a:rPr>
              <a:t>•  </a:t>
            </a:r>
            <a:r>
              <a:rPr sz="1600" b="1">
                <a:solidFill>
                  <a:srgbClr val="FFFFFF"/>
                </a:solidFill>
                <a:latin typeface="Calibri"/>
              </a:rPr>
              <a:t>Request a private demo. </a:t>
            </a:r>
            <a:r>
              <a:rPr sz="1600">
                <a:solidFill>
                  <a:srgbClr val="C9CCD1"/>
                </a:solidFill>
                <a:latin typeface="Calibri"/>
              </a:rPr>
              <a:t>The white-label build is kept private as a partner concept — we'll provide guided access at parigrado.com/?partner=aarp.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C8102E"/>
                </a:solidFill>
                <a:latin typeface="Calibri"/>
              </a:rPr>
              <a:t>•  </a:t>
            </a:r>
            <a:r>
              <a:rPr sz="1600" b="1">
                <a:solidFill>
                  <a:srgbClr val="FFFFFF"/>
                </a:solidFill>
                <a:latin typeface="Calibri"/>
              </a:rPr>
              <a:t>30-minute intro call. </a:t>
            </a:r>
            <a:r>
              <a:rPr sz="1600">
                <a:solidFill>
                  <a:srgbClr val="C9CCD1"/>
                </a:solidFill>
                <a:latin typeface="Calibri"/>
              </a:rPr>
              <a:t>Align on pilot states, success metrics, and scope; live embed within two weeks of a signed pilot.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709160"/>
            <a:ext cx="10332720" cy="1371600"/>
          </a:xfrm>
          <a:prstGeom prst="roundRect">
            <a:avLst>
              <a:gd name="adj" fmla="val 6000"/>
            </a:avLst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4892040"/>
            <a:ext cx="9692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Larry Kirschner  ·  Parigrado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F39AA6"/>
                </a:solidFill>
                <a:latin typeface="Calibri"/>
              </a:rPr>
              <a:t>LarryRkirschner@gmail.com    ·    239-304-6180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4008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1">
                <a:solidFill>
                  <a:srgbClr val="9A9EA5"/>
                </a:solidFill>
                <a:latin typeface="Calibri"/>
              </a:rPr>
              <a:t>Partnership concept — not an official AARP product.  parigrado.com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